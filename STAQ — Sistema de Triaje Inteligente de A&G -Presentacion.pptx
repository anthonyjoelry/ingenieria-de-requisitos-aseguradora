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Oswald Bold" charset="1" panose="00000800000000000000"/>
      <p:regular r:id="rId21"/>
    </p:embeddedFont>
    <p:embeddedFont>
      <p:font typeface="Montserrat Bold" charset="1" panose="00000800000000000000"/>
      <p:regular r:id="rId22"/>
    </p:embeddedFont>
    <p:embeddedFont>
      <p:font typeface="DM Sans" charset="1" panose="00000000000000000000"/>
      <p:regular r:id="rId23"/>
    </p:embeddedFont>
    <p:embeddedFont>
      <p:font typeface="DM Sans Bold" charset="1" panose="00000000000000000000"/>
      <p:regular r:id="rId24"/>
    </p:embeddedFont>
    <p:embeddedFont>
      <p:font typeface="Open Sauce Bold" charset="1" panose="00000800000000000000"/>
      <p:regular r:id="rId25"/>
    </p:embeddedFont>
    <p:embeddedFont>
      <p:font typeface="Open Sauce" charset="1" panose="00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jpeg" Type="http://schemas.openxmlformats.org/officeDocument/2006/relationships/image"/><Relationship Id="rId6" Target="../media/image1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https://youtu.be/LijocHG0kLc" TargetMode="External" Type="http://schemas.openxmlformats.org/officeDocument/2006/relationships/video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59121">
            <a:off x="15091031" y="5585714"/>
            <a:ext cx="7629294" cy="7828566"/>
          </a:xfrm>
          <a:custGeom>
            <a:avLst/>
            <a:gdLst/>
            <a:ahLst/>
            <a:cxnLst/>
            <a:rect r="r" b="b" t="t" l="l"/>
            <a:pathLst>
              <a:path h="7828566" w="7629294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58071" y="-4629150"/>
            <a:ext cx="9022634" cy="9258300"/>
          </a:xfrm>
          <a:custGeom>
            <a:avLst/>
            <a:gdLst/>
            <a:ahLst/>
            <a:cxnLst/>
            <a:rect r="r" b="b" t="t" l="l"/>
            <a:pathLst>
              <a:path h="9258300" w="9022634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005734" y="3202251"/>
            <a:ext cx="12387926" cy="4208864"/>
            <a:chOff x="0" y="0"/>
            <a:chExt cx="239231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92310" cy="812800"/>
            </a:xfrm>
            <a:custGeom>
              <a:avLst/>
              <a:gdLst/>
              <a:ahLst/>
              <a:cxnLst/>
              <a:rect r="r" b="b" t="t" l="l"/>
              <a:pathLst>
                <a:path h="812800" w="2392310">
                  <a:moveTo>
                    <a:pt x="0" y="0"/>
                  </a:moveTo>
                  <a:lnTo>
                    <a:pt x="2392310" y="0"/>
                  </a:lnTo>
                  <a:lnTo>
                    <a:pt x="2392310" y="812800"/>
                  </a:lnTo>
                  <a:lnTo>
                    <a:pt x="0" y="812800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392310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028014" y="793833"/>
            <a:ext cx="596933" cy="613568"/>
          </a:xfrm>
          <a:custGeom>
            <a:avLst/>
            <a:gdLst/>
            <a:ahLst/>
            <a:cxnLst/>
            <a:rect r="r" b="b" t="t" l="l"/>
            <a:pathLst>
              <a:path h="613568" w="596933">
                <a:moveTo>
                  <a:pt x="0" y="0"/>
                </a:moveTo>
                <a:lnTo>
                  <a:pt x="596933" y="0"/>
                </a:lnTo>
                <a:lnTo>
                  <a:pt x="596933" y="613568"/>
                </a:lnTo>
                <a:lnTo>
                  <a:pt x="0" y="6135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08682" y="4294337"/>
            <a:ext cx="10470636" cy="2766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84"/>
              </a:lnSpc>
            </a:pPr>
            <a:r>
              <a:rPr lang="en-US" b="true" sz="16437" spc="161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STAQ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19596" y="7473053"/>
            <a:ext cx="12848809" cy="520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3"/>
              </a:lnSpc>
            </a:pPr>
            <a:r>
              <a:rPr lang="en-US" b="true" sz="3053" spc="161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INGENIERÍA DE REQUISITOS  - JUNIO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93660" y="1538248"/>
            <a:ext cx="1865640" cy="579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94"/>
              </a:lnSpc>
              <a:spcBef>
                <a:spcPct val="0"/>
              </a:spcBef>
            </a:pPr>
            <a:r>
              <a:rPr lang="en-US" b="true" sz="1735" spc="170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</a:t>
            </a:r>
            <a:r>
              <a:rPr lang="en-US" b="true" sz="1735" spc="170" u="none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AM NOT FOUND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75293" y="3533111"/>
            <a:ext cx="12848809" cy="1054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3"/>
              </a:lnSpc>
            </a:pPr>
            <a:r>
              <a:rPr lang="en-US" b="true" sz="3053" spc="161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 DE TRIAJE INTELIGENTE DE APELACIONES, QUEJAS Y RECLAMACIONES (A&amp;G)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659121">
            <a:off x="-4012602" y="5014214"/>
            <a:ext cx="7629294" cy="7828566"/>
          </a:xfrm>
          <a:custGeom>
            <a:avLst/>
            <a:gdLst/>
            <a:ahLst/>
            <a:cxnLst/>
            <a:rect r="r" b="b" t="t" l="l"/>
            <a:pathLst>
              <a:path h="7828566" w="7629294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19320" y="2258759"/>
            <a:ext cx="1400485" cy="7529031"/>
            <a:chOff x="0" y="0"/>
            <a:chExt cx="368852" cy="19829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8852" cy="1982955"/>
            </a:xfrm>
            <a:custGeom>
              <a:avLst/>
              <a:gdLst/>
              <a:ahLst/>
              <a:cxnLst/>
              <a:rect r="r" b="b" t="t" l="l"/>
              <a:pathLst>
                <a:path h="1982955" w="368852">
                  <a:moveTo>
                    <a:pt x="0" y="0"/>
                  </a:moveTo>
                  <a:lnTo>
                    <a:pt x="368852" y="0"/>
                  </a:lnTo>
                  <a:lnTo>
                    <a:pt x="368852" y="1982955"/>
                  </a:lnTo>
                  <a:lnTo>
                    <a:pt x="0" y="1982955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368852" cy="2002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980992" y="465494"/>
            <a:ext cx="7416941" cy="1683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74"/>
              </a:lnSpc>
            </a:pPr>
            <a:r>
              <a:rPr lang="en-US" b="true" sz="9981" spc="97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CONTENIDO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2016048">
            <a:off x="12243487" y="-1005305"/>
            <a:ext cx="10749463" cy="2687366"/>
          </a:xfrm>
          <a:custGeom>
            <a:avLst/>
            <a:gdLst/>
            <a:ahLst/>
            <a:cxnLst/>
            <a:rect r="r" b="b" t="t" l="l"/>
            <a:pathLst>
              <a:path h="2687366" w="10749463">
                <a:moveTo>
                  <a:pt x="0" y="0"/>
                </a:moveTo>
                <a:lnTo>
                  <a:pt x="10749463" y="0"/>
                </a:lnTo>
                <a:lnTo>
                  <a:pt x="10749463" y="2687365"/>
                </a:lnTo>
                <a:lnTo>
                  <a:pt x="0" y="2687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31353" y="2386985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31353" y="3184104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31353" y="4065261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31353" y="4862380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50954" y="5654757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50954" y="6485721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50954" y="7336014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07430" y="2494937"/>
            <a:ext cx="5790503" cy="418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524" spc="247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RESUMEN DEL PROBLEMA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07430" y="3289155"/>
            <a:ext cx="6076629" cy="418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524" spc="247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¿QUÉ ES STAQ?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07430" y="4209245"/>
            <a:ext cx="5790503" cy="418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3"/>
              </a:lnSpc>
              <a:spcBef>
                <a:spcPct val="0"/>
              </a:spcBef>
            </a:pPr>
            <a:r>
              <a:rPr lang="en-US" sz="2524" spc="247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2524" spc="247" u="none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BJETIVOS DE NEGOCIO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07430" y="5003463"/>
            <a:ext cx="8862715" cy="418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3"/>
              </a:lnSpc>
              <a:spcBef>
                <a:spcPct val="0"/>
              </a:spcBef>
            </a:pPr>
            <a:r>
              <a:rPr lang="en-US" sz="2524" spc="247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RESU</a:t>
            </a:r>
            <a:r>
              <a:rPr lang="en-US" sz="2524" spc="247" u="none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LTADOS DE LA ELICITACIÓN -STAKEHOLDERS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07430" y="5804307"/>
            <a:ext cx="6076629" cy="418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3"/>
              </a:lnSpc>
              <a:spcBef>
                <a:spcPct val="0"/>
              </a:spcBef>
            </a:pPr>
            <a:r>
              <a:rPr lang="en-US" sz="2524" spc="247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REQUISIT</a:t>
            </a:r>
            <a:r>
              <a:rPr lang="en-US" sz="2524" spc="247" u="none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OS FUNCIONALES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07430" y="6596684"/>
            <a:ext cx="5790503" cy="418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3"/>
              </a:lnSpc>
              <a:spcBef>
                <a:spcPct val="0"/>
              </a:spcBef>
            </a:pPr>
            <a:r>
              <a:rPr lang="en-US" sz="2524" spc="247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REQU</a:t>
            </a:r>
            <a:r>
              <a:rPr lang="en-US" sz="2524" spc="247" u="none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ISITOS NO FUNCIONALES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07430" y="7441065"/>
            <a:ext cx="6076629" cy="418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3"/>
              </a:lnSpc>
              <a:spcBef>
                <a:spcPct val="0"/>
              </a:spcBef>
            </a:pPr>
            <a:r>
              <a:rPr lang="en-US" sz="2524" spc="247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CASO DE USO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50954" y="8183739"/>
            <a:ext cx="937219" cy="657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08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07430" y="8288790"/>
            <a:ext cx="6076629" cy="418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3"/>
              </a:lnSpc>
              <a:spcBef>
                <a:spcPct val="0"/>
              </a:spcBef>
            </a:pPr>
            <a:r>
              <a:rPr lang="en-US" sz="2524" spc="247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PROTOTIPO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231353" y="8974287"/>
            <a:ext cx="937219" cy="657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09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87829" y="9079338"/>
            <a:ext cx="6076629" cy="418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3"/>
              </a:lnSpc>
              <a:spcBef>
                <a:spcPct val="0"/>
              </a:spcBef>
            </a:pPr>
            <a:r>
              <a:rPr lang="en-US" sz="2524" spc="247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LECCIONES APRENDIDAS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23196" y="8710702"/>
            <a:ext cx="7436104" cy="992235"/>
          </a:xfrm>
          <a:custGeom>
            <a:avLst/>
            <a:gdLst/>
            <a:ahLst/>
            <a:cxnLst/>
            <a:rect r="r" b="b" t="t" l="l"/>
            <a:pathLst>
              <a:path h="992235" w="7436104">
                <a:moveTo>
                  <a:pt x="0" y="0"/>
                </a:moveTo>
                <a:lnTo>
                  <a:pt x="7436104" y="0"/>
                </a:lnTo>
                <a:lnTo>
                  <a:pt x="7436104" y="992235"/>
                </a:lnTo>
                <a:lnTo>
                  <a:pt x="0" y="9922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229" t="-86495" r="-1677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823196" y="3205805"/>
            <a:ext cx="7436104" cy="5559534"/>
            <a:chOff x="0" y="0"/>
            <a:chExt cx="1958480" cy="14642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8480" cy="1464239"/>
            </a:xfrm>
            <a:custGeom>
              <a:avLst/>
              <a:gdLst/>
              <a:ahLst/>
              <a:cxnLst/>
              <a:rect r="r" b="b" t="t" l="l"/>
              <a:pathLst>
                <a:path h="1464239" w="1958480">
                  <a:moveTo>
                    <a:pt x="0" y="0"/>
                  </a:moveTo>
                  <a:lnTo>
                    <a:pt x="1958480" y="0"/>
                  </a:lnTo>
                  <a:lnTo>
                    <a:pt x="1958480" y="1464239"/>
                  </a:lnTo>
                  <a:lnTo>
                    <a:pt x="0" y="1464239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958480" cy="1483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4441" y="3205805"/>
            <a:ext cx="8202219" cy="5559534"/>
            <a:chOff x="0" y="0"/>
            <a:chExt cx="3142625" cy="21300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42625" cy="2130098"/>
            </a:xfrm>
            <a:custGeom>
              <a:avLst/>
              <a:gdLst/>
              <a:ahLst/>
              <a:cxnLst/>
              <a:rect r="r" b="b" t="t" l="l"/>
              <a:pathLst>
                <a:path h="2130098" w="3142625">
                  <a:moveTo>
                    <a:pt x="0" y="0"/>
                  </a:moveTo>
                  <a:lnTo>
                    <a:pt x="3142625" y="0"/>
                  </a:lnTo>
                  <a:lnTo>
                    <a:pt x="3142625" y="2130098"/>
                  </a:lnTo>
                  <a:lnTo>
                    <a:pt x="0" y="2130098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3142625" cy="2149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445686" y="3407027"/>
            <a:ext cx="1156649" cy="1173721"/>
          </a:xfrm>
          <a:custGeom>
            <a:avLst/>
            <a:gdLst/>
            <a:ahLst/>
            <a:cxnLst/>
            <a:rect r="r" b="b" t="t" l="l"/>
            <a:pathLst>
              <a:path h="1173721" w="1156649">
                <a:moveTo>
                  <a:pt x="0" y="0"/>
                </a:moveTo>
                <a:lnTo>
                  <a:pt x="1156649" y="0"/>
                </a:lnTo>
                <a:lnTo>
                  <a:pt x="1156649" y="1173721"/>
                </a:lnTo>
                <a:lnTo>
                  <a:pt x="0" y="11737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602335" y="3434245"/>
            <a:ext cx="6346485" cy="533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sz="2210" spc="216" b="true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Problema identificado</a:t>
            </a:r>
          </a:p>
          <a:p>
            <a:pPr algn="l">
              <a:lnSpc>
                <a:spcPts val="3050"/>
              </a:lnSpc>
            </a:pPr>
            <a:r>
              <a:rPr lang="en-US" sz="2210" spc="216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Actualmente la aseguradora gestiona las Apelaciones, Quejas y Reclamaciones mediante procesos manuales que presentan:</a:t>
            </a:r>
          </a:p>
          <a:p>
            <a:pPr algn="l" marL="477229" indent="-238614" lvl="1">
              <a:lnSpc>
                <a:spcPts val="3050"/>
              </a:lnSpc>
              <a:buFont typeface="Arial"/>
              <a:buChar char="•"/>
            </a:pPr>
            <a:r>
              <a:rPr lang="en-US" sz="2210" spc="216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Recepción de casos por múltiples canales.</a:t>
            </a:r>
          </a:p>
          <a:p>
            <a:pPr algn="l" marL="477229" indent="-238614" lvl="1">
              <a:lnSpc>
                <a:spcPts val="3050"/>
              </a:lnSpc>
              <a:buFont typeface="Arial"/>
              <a:buChar char="•"/>
            </a:pPr>
            <a:r>
              <a:rPr lang="en-US" sz="2210" spc="216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Información dispersa en diferentes sistemas.</a:t>
            </a:r>
          </a:p>
          <a:p>
            <a:pPr algn="l" marL="477229" indent="-238614" lvl="1">
              <a:lnSpc>
                <a:spcPts val="3050"/>
              </a:lnSpc>
              <a:buFont typeface="Arial"/>
              <a:buChar char="•"/>
            </a:pPr>
            <a:r>
              <a:rPr lang="en-US" sz="2210" spc="216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Clasificación subjetiva según el analista.</a:t>
            </a:r>
          </a:p>
          <a:p>
            <a:pPr algn="l" marL="477229" indent="-238614" lvl="1">
              <a:lnSpc>
                <a:spcPts val="3050"/>
              </a:lnSpc>
              <a:buFont typeface="Arial"/>
              <a:buChar char="•"/>
            </a:pPr>
            <a:r>
              <a:rPr lang="en-US" sz="2210" spc="216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Detección manual de duplicidades.</a:t>
            </a:r>
          </a:p>
          <a:p>
            <a:pPr algn="l" marL="477229" indent="-238614" lvl="1">
              <a:lnSpc>
                <a:spcPts val="3050"/>
              </a:lnSpc>
              <a:spcBef>
                <a:spcPct val="0"/>
              </a:spcBef>
              <a:buFont typeface="Arial"/>
              <a:buChar char="•"/>
            </a:pPr>
            <a:r>
              <a:rPr lang="en-US" sz="2210" spc="216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Escasa trazabilidad para auditorías.</a:t>
            </a:r>
          </a:p>
          <a:p>
            <a:pPr algn="l" marL="0" indent="0" lvl="0">
              <a:lnSpc>
                <a:spcPts val="3050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2779578" y="734131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124472" y="3459637"/>
            <a:ext cx="1104804" cy="1121111"/>
          </a:xfrm>
          <a:custGeom>
            <a:avLst/>
            <a:gdLst/>
            <a:ahLst/>
            <a:cxnLst/>
            <a:rect r="r" b="b" t="t" l="l"/>
            <a:pathLst>
              <a:path h="1121111" w="1104804">
                <a:moveTo>
                  <a:pt x="0" y="0"/>
                </a:moveTo>
                <a:lnTo>
                  <a:pt x="1104805" y="0"/>
                </a:lnTo>
                <a:lnTo>
                  <a:pt x="1104805" y="1121111"/>
                </a:lnTo>
                <a:lnTo>
                  <a:pt x="0" y="11211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60547" y="857250"/>
            <a:ext cx="15698753" cy="168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74"/>
              </a:lnSpc>
            </a:pPr>
            <a:r>
              <a:rPr lang="en-US" b="true" sz="9981" spc="97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RESUMEN DEL PROBLEMA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62652" y="3553368"/>
            <a:ext cx="5578402" cy="418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sz="2210" spc="216" b="true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Consecuencias</a:t>
            </a:r>
          </a:p>
          <a:p>
            <a:pPr algn="l" marL="477229" indent="-238614" lvl="1">
              <a:lnSpc>
                <a:spcPts val="3050"/>
              </a:lnSpc>
              <a:buFont typeface="Arial"/>
              <a:buChar char="•"/>
            </a:pPr>
            <a:r>
              <a:rPr lang="en-US" sz="2210" spc="216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Retrasos en atención.</a:t>
            </a:r>
          </a:p>
          <a:p>
            <a:pPr algn="l" marL="477229" indent="-238614" lvl="1">
              <a:lnSpc>
                <a:spcPts val="3050"/>
              </a:lnSpc>
              <a:buFont typeface="Arial"/>
              <a:buChar char="•"/>
            </a:pPr>
            <a:r>
              <a:rPr lang="en-US" sz="2210" spc="216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Incumplimiento de SLA regulatorios.</a:t>
            </a:r>
          </a:p>
          <a:p>
            <a:pPr algn="l" marL="477229" indent="-238614" lvl="1">
              <a:lnSpc>
                <a:spcPts val="3050"/>
              </a:lnSpc>
              <a:buFont typeface="Arial"/>
              <a:buChar char="•"/>
            </a:pPr>
            <a:r>
              <a:rPr lang="en-US" sz="2210" spc="216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Incremento de costos operativos.</a:t>
            </a:r>
          </a:p>
          <a:p>
            <a:pPr algn="l" marL="477229" indent="-238614" lvl="1">
              <a:lnSpc>
                <a:spcPts val="3050"/>
              </a:lnSpc>
              <a:buFont typeface="Arial"/>
              <a:buChar char="•"/>
            </a:pPr>
            <a:r>
              <a:rPr lang="en-US" sz="2210" spc="216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Reprocesos y reasignaciones frecuentes.</a:t>
            </a:r>
          </a:p>
          <a:p>
            <a:pPr algn="l" marL="477229" indent="-238614" lvl="1">
              <a:lnSpc>
                <a:spcPts val="3050"/>
              </a:lnSpc>
              <a:spcBef>
                <a:spcPct val="0"/>
              </a:spcBef>
              <a:buFont typeface="Arial"/>
              <a:buChar char="•"/>
            </a:pPr>
            <a:r>
              <a:rPr lang="en-US" sz="2210" spc="216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Riesgo regulatorio y de cumplimiento.</a:t>
            </a:r>
          </a:p>
          <a:p>
            <a:pPr algn="l" marL="0" indent="0" lvl="0">
              <a:lnSpc>
                <a:spcPts val="3050"/>
              </a:lnSpc>
              <a:spcBef>
                <a:spcPct val="0"/>
              </a:spcBef>
            </a:pPr>
          </a:p>
        </p:txBody>
      </p:sp>
      <p:sp>
        <p:nvSpPr>
          <p:cNvPr name="Freeform 16" id="16"/>
          <p:cNvSpPr/>
          <p:nvPr/>
        </p:nvSpPr>
        <p:spPr>
          <a:xfrm flipH="true" flipV="false" rot="0">
            <a:off x="11678300" y="6922213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7616557" y="0"/>
                </a:moveTo>
                <a:lnTo>
                  <a:pt x="0" y="0"/>
                </a:lnTo>
                <a:lnTo>
                  <a:pt x="0" y="7815497"/>
                </a:lnTo>
                <a:lnTo>
                  <a:pt x="7616557" y="7815497"/>
                </a:lnTo>
                <a:lnTo>
                  <a:pt x="76165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3086100"/>
            <a:chOff x="0" y="0"/>
            <a:chExt cx="4816593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451022" y="-4729397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851369" y="-3442596"/>
            <a:ext cx="6709932" cy="6885191"/>
          </a:xfrm>
          <a:custGeom>
            <a:avLst/>
            <a:gdLst/>
            <a:ahLst/>
            <a:cxnLst/>
            <a:rect r="r" b="b" t="t" l="l"/>
            <a:pathLst>
              <a:path h="6885191" w="6709932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3493347"/>
            <a:ext cx="4457730" cy="3466058"/>
          </a:xfrm>
          <a:custGeom>
            <a:avLst/>
            <a:gdLst/>
            <a:ahLst/>
            <a:cxnLst/>
            <a:rect r="r" b="b" t="t" l="l"/>
            <a:pathLst>
              <a:path h="3466058" w="4457730">
                <a:moveTo>
                  <a:pt x="0" y="0"/>
                </a:moveTo>
                <a:lnTo>
                  <a:pt x="4457730" y="0"/>
                </a:lnTo>
                <a:lnTo>
                  <a:pt x="4457730" y="3466058"/>
                </a:lnTo>
                <a:lnTo>
                  <a:pt x="0" y="34660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510" t="-8825" r="-25510" b="-2057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90980" y="1232286"/>
            <a:ext cx="10906040" cy="134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b="true" sz="8030" spc="78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¿QUÉ ES STAQ?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743009" y="3493347"/>
            <a:ext cx="11151251" cy="3466058"/>
            <a:chOff x="0" y="0"/>
            <a:chExt cx="1744696" cy="5422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44696" cy="542290"/>
            </a:xfrm>
            <a:custGeom>
              <a:avLst/>
              <a:gdLst/>
              <a:ahLst/>
              <a:cxnLst/>
              <a:rect r="r" b="b" t="t" l="l"/>
              <a:pathLst>
                <a:path h="542290" w="1744696">
                  <a:moveTo>
                    <a:pt x="0" y="0"/>
                  </a:moveTo>
                  <a:lnTo>
                    <a:pt x="1744696" y="0"/>
                  </a:lnTo>
                  <a:lnTo>
                    <a:pt x="1744696" y="542290"/>
                  </a:lnTo>
                  <a:lnTo>
                    <a:pt x="0" y="542290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744696" cy="561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342300" y="3705085"/>
            <a:ext cx="10985733" cy="2943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000" spc="2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STAQ es una plataforma web interna que:</a:t>
            </a:r>
          </a:p>
          <a:p>
            <a:pPr algn="l" marL="607941" indent="-303970" lvl="1">
              <a:lnSpc>
                <a:spcPts val="3885"/>
              </a:lnSpc>
              <a:buFont typeface="Arial"/>
              <a:buChar char="•"/>
            </a:pPr>
            <a:r>
              <a:rPr lang="en-US" sz="2815" spc="275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Centraliza información de múltiples sistemas.</a:t>
            </a:r>
          </a:p>
          <a:p>
            <a:pPr algn="l" marL="607941" indent="-303970" lvl="1">
              <a:lnSpc>
                <a:spcPts val="3885"/>
              </a:lnSpc>
              <a:buFont typeface="Arial"/>
              <a:buChar char="•"/>
            </a:pPr>
            <a:r>
              <a:rPr lang="en-US" sz="2815" spc="275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Automatiza el proceso de clasificación inicial.</a:t>
            </a:r>
          </a:p>
          <a:p>
            <a:pPr algn="l" marL="607941" indent="-303970" lvl="1">
              <a:lnSpc>
                <a:spcPts val="3885"/>
              </a:lnSpc>
              <a:buFont typeface="Arial"/>
              <a:buChar char="•"/>
            </a:pPr>
            <a:r>
              <a:rPr lang="en-US" sz="2815" spc="275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Detecta casos duplicados.</a:t>
            </a:r>
          </a:p>
          <a:p>
            <a:pPr algn="l" marL="607941" indent="-303970" lvl="1">
              <a:lnSpc>
                <a:spcPts val="3885"/>
              </a:lnSpc>
              <a:buFont typeface="Arial"/>
              <a:buChar char="•"/>
            </a:pPr>
            <a:r>
              <a:rPr lang="en-US" sz="2815" spc="275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Facilita la derivación de casos.</a:t>
            </a:r>
          </a:p>
          <a:p>
            <a:pPr algn="l" marL="607941" indent="-303970" lvl="1">
              <a:lnSpc>
                <a:spcPts val="3885"/>
              </a:lnSpc>
              <a:buFont typeface="Arial"/>
              <a:buChar char="•"/>
            </a:pPr>
            <a:r>
              <a:rPr lang="en-US" sz="2815" spc="275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Proporciona trazabilidad completa.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252351" y="7301144"/>
            <a:ext cx="3641909" cy="2079022"/>
          </a:xfrm>
          <a:custGeom>
            <a:avLst/>
            <a:gdLst/>
            <a:ahLst/>
            <a:cxnLst/>
            <a:rect r="r" b="b" t="t" l="l"/>
            <a:pathLst>
              <a:path h="2079022" w="3641909">
                <a:moveTo>
                  <a:pt x="0" y="0"/>
                </a:moveTo>
                <a:lnTo>
                  <a:pt x="3641909" y="0"/>
                </a:lnTo>
                <a:lnTo>
                  <a:pt x="3641909" y="2079022"/>
                </a:lnTo>
                <a:lnTo>
                  <a:pt x="0" y="20790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91" t="-11301" r="-2391" b="-11065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28700" y="7301144"/>
            <a:ext cx="12030015" cy="2079022"/>
            <a:chOff x="0" y="0"/>
            <a:chExt cx="1705349" cy="2947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5349" cy="294718"/>
            </a:xfrm>
            <a:custGeom>
              <a:avLst/>
              <a:gdLst/>
              <a:ahLst/>
              <a:cxnLst/>
              <a:rect r="r" b="b" t="t" l="l"/>
              <a:pathLst>
                <a:path h="294718" w="1705349">
                  <a:moveTo>
                    <a:pt x="0" y="0"/>
                  </a:moveTo>
                  <a:lnTo>
                    <a:pt x="1705349" y="0"/>
                  </a:lnTo>
                  <a:lnTo>
                    <a:pt x="1705349" y="294718"/>
                  </a:lnTo>
                  <a:lnTo>
                    <a:pt x="0" y="294718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705349" cy="313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62260" y="7526012"/>
            <a:ext cx="11596456" cy="1854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4"/>
              </a:lnSpc>
            </a:pPr>
            <a:r>
              <a:rPr lang="en-US" sz="2699" spc="264" b="true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Beneficio principal</a:t>
            </a:r>
          </a:p>
          <a:p>
            <a:pPr algn="l" marL="582748" indent="-291374" lvl="1">
              <a:lnSpc>
                <a:spcPts val="3724"/>
              </a:lnSpc>
              <a:buFont typeface="Arial"/>
              <a:buChar char="•"/>
            </a:pPr>
            <a:r>
              <a:rPr lang="en-US" sz="2699" spc="26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Reducir en un 50% el tiempo de triaje inicial y mejorar la calidad de la clasificación de casos.</a:t>
            </a:r>
          </a:p>
          <a:p>
            <a:pPr algn="l">
              <a:lnSpc>
                <a:spcPts val="372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3280749" y="2416962"/>
          <a:ext cx="11726502" cy="7000875"/>
        </p:xfrm>
        <a:graphic>
          <a:graphicData uri="http://schemas.openxmlformats.org/drawingml/2006/table">
            <a:tbl>
              <a:tblPr/>
              <a:tblGrid>
                <a:gridCol w="5863251"/>
                <a:gridCol w="5863251"/>
              </a:tblGrid>
              <a:tr h="7565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Objetivo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Meta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7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Reducir tiempo de triaje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Un 50% del tiempo promedio del proceso actual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26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Clasificación correcta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Mas del 90% de casos con una clasificación correcta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7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Detectar duplicados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Detectar mas del 85% de  casos duplicados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26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Reducir reprocesos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Reducir en un 40% los reprosesos derivados de casos derivados de un triaje incorrecto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7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Visibilidad operativa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100% casos activos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7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Trazabilidad completa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Auditorías sin observaciones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2981463" y="460189"/>
            <a:ext cx="12325074" cy="134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b="true" sz="8030" spc="786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OBJETIVOS DE NEGOCIO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4756153">
            <a:off x="-3605062" y="6379252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007251" y="-4780171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7863">
            <a:off x="-571305" y="6150994"/>
            <a:ext cx="21273218" cy="9128145"/>
          </a:xfrm>
          <a:custGeom>
            <a:avLst/>
            <a:gdLst/>
            <a:ahLst/>
            <a:cxnLst/>
            <a:rect r="r" b="b" t="t" l="l"/>
            <a:pathLst>
              <a:path h="9128145" w="21273218">
                <a:moveTo>
                  <a:pt x="0" y="0"/>
                </a:moveTo>
                <a:lnTo>
                  <a:pt x="21273219" y="0"/>
                </a:lnTo>
                <a:lnTo>
                  <a:pt x="21273219" y="9128145"/>
                </a:lnTo>
                <a:lnTo>
                  <a:pt x="0" y="91281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43797" y="495300"/>
            <a:ext cx="13153439" cy="308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419"/>
              </a:lnSpc>
              <a:spcBef>
                <a:spcPct val="0"/>
              </a:spcBef>
            </a:pPr>
            <a:r>
              <a:rPr lang="en-US" b="true" sz="9000" spc="882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RESULTADOS DE LA ELICITACIÓN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852235" y="8503025"/>
            <a:ext cx="5515082" cy="584052"/>
          </a:xfrm>
          <a:custGeom>
            <a:avLst/>
            <a:gdLst/>
            <a:ahLst/>
            <a:cxnLst/>
            <a:rect r="r" b="b" t="t" l="l"/>
            <a:pathLst>
              <a:path h="584052" w="5515082">
                <a:moveTo>
                  <a:pt x="0" y="0"/>
                </a:moveTo>
                <a:lnTo>
                  <a:pt x="5515082" y="0"/>
                </a:lnTo>
                <a:lnTo>
                  <a:pt x="5515082" y="584052"/>
                </a:lnTo>
                <a:lnTo>
                  <a:pt x="0" y="5840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6495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31737" y="8503025"/>
            <a:ext cx="5515082" cy="584052"/>
          </a:xfrm>
          <a:custGeom>
            <a:avLst/>
            <a:gdLst/>
            <a:ahLst/>
            <a:cxnLst/>
            <a:rect r="r" b="b" t="t" l="l"/>
            <a:pathLst>
              <a:path h="584052" w="5515082">
                <a:moveTo>
                  <a:pt x="0" y="0"/>
                </a:moveTo>
                <a:lnTo>
                  <a:pt x="5515082" y="0"/>
                </a:lnTo>
                <a:lnTo>
                  <a:pt x="5515082" y="584052"/>
                </a:lnTo>
                <a:lnTo>
                  <a:pt x="0" y="5840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6495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872064" y="4534215"/>
            <a:ext cx="5495252" cy="5094458"/>
            <a:chOff x="0" y="0"/>
            <a:chExt cx="1279723" cy="11863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79723" cy="1186387"/>
            </a:xfrm>
            <a:custGeom>
              <a:avLst/>
              <a:gdLst/>
              <a:ahLst/>
              <a:cxnLst/>
              <a:rect r="r" b="b" t="t" l="l"/>
              <a:pathLst>
                <a:path h="1186387" w="1279723">
                  <a:moveTo>
                    <a:pt x="0" y="0"/>
                  </a:moveTo>
                  <a:lnTo>
                    <a:pt x="1279723" y="0"/>
                  </a:lnTo>
                  <a:lnTo>
                    <a:pt x="1279723" y="1186387"/>
                  </a:lnTo>
                  <a:lnTo>
                    <a:pt x="0" y="1186387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79723" cy="1243537"/>
            </a:xfrm>
            <a:prstGeom prst="rect">
              <a:avLst/>
            </a:prstGeom>
          </p:spPr>
          <p:txBody>
            <a:bodyPr anchor="ctr" rtlCol="false" tIns="67869" lIns="67869" bIns="67869" rIns="67869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790764" y="4534215"/>
            <a:ext cx="6156054" cy="5094458"/>
            <a:chOff x="0" y="0"/>
            <a:chExt cx="1433609" cy="11863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33609" cy="1186387"/>
            </a:xfrm>
            <a:custGeom>
              <a:avLst/>
              <a:gdLst/>
              <a:ahLst/>
              <a:cxnLst/>
              <a:rect r="r" b="b" t="t" l="l"/>
              <a:pathLst>
                <a:path h="1186387" w="1433609">
                  <a:moveTo>
                    <a:pt x="0" y="0"/>
                  </a:moveTo>
                  <a:lnTo>
                    <a:pt x="1433609" y="0"/>
                  </a:lnTo>
                  <a:lnTo>
                    <a:pt x="1433609" y="1186387"/>
                  </a:lnTo>
                  <a:lnTo>
                    <a:pt x="0" y="1186387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433609" cy="1243537"/>
            </a:xfrm>
            <a:prstGeom prst="rect">
              <a:avLst/>
            </a:prstGeom>
          </p:spPr>
          <p:txBody>
            <a:bodyPr anchor="ctr" rtlCol="false" tIns="67869" lIns="67869" bIns="67869" rIns="67869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499936" y="4001362"/>
            <a:ext cx="2737711" cy="273771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67869" lIns="67869" bIns="67869" rIns="67869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240920" y="4004757"/>
            <a:ext cx="2737711" cy="273771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67869" lIns="67869" bIns="67869" rIns="67869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311733" y="6366855"/>
            <a:ext cx="5114118" cy="2786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9"/>
              </a:lnSpc>
            </a:pPr>
            <a:r>
              <a:rPr lang="en-US" sz="2702" spc="264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Dirección de Operaciones A&amp;G</a:t>
            </a:r>
          </a:p>
          <a:p>
            <a:pPr algn="ctr">
              <a:lnSpc>
                <a:spcPts val="3729"/>
              </a:lnSpc>
            </a:pPr>
            <a:r>
              <a:rPr lang="en-US" sz="2702" spc="264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Equipo Legal y Compliance</a:t>
            </a:r>
          </a:p>
          <a:p>
            <a:pPr algn="ctr">
              <a:lnSpc>
                <a:spcPts val="3729"/>
              </a:lnSpc>
            </a:pPr>
            <a:r>
              <a:rPr lang="en-US" sz="2702" spc="264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Ente Regulador de Salud</a:t>
            </a:r>
          </a:p>
          <a:p>
            <a:pPr algn="ctr">
              <a:lnSpc>
                <a:spcPts val="372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0253199" y="6366855"/>
            <a:ext cx="4732983" cy="2786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9"/>
              </a:lnSpc>
            </a:pPr>
            <a:r>
              <a:rPr lang="en-US" sz="2702" spc="264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Analistas de Triaje</a:t>
            </a:r>
          </a:p>
          <a:p>
            <a:pPr algn="ctr">
              <a:lnSpc>
                <a:spcPts val="3729"/>
              </a:lnSpc>
            </a:pPr>
            <a:r>
              <a:rPr lang="en-US" sz="2702" spc="264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Supervisores Operativos</a:t>
            </a:r>
          </a:p>
          <a:p>
            <a:pPr algn="ctr">
              <a:lnSpc>
                <a:spcPts val="3729"/>
              </a:lnSpc>
            </a:pPr>
            <a:r>
              <a:rPr lang="en-US" sz="2702" spc="264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Directores Médicos</a:t>
            </a:r>
          </a:p>
          <a:p>
            <a:pPr algn="ctr">
              <a:lnSpc>
                <a:spcPts val="3729"/>
              </a:lnSpc>
            </a:pPr>
            <a:r>
              <a:rPr lang="en-US" sz="2702" spc="264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Equipo de Calidad</a:t>
            </a:r>
          </a:p>
          <a:p>
            <a:pPr algn="ctr">
              <a:lnSpc>
                <a:spcPts val="3729"/>
              </a:lnSpc>
            </a:pPr>
            <a:r>
              <a:rPr lang="en-US" sz="2702" spc="264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Administradores</a:t>
            </a:r>
          </a:p>
          <a:p>
            <a:pPr algn="ctr">
              <a:lnSpc>
                <a:spcPts val="372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991247" y="4567292"/>
            <a:ext cx="5755090" cy="137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0"/>
              </a:lnSpc>
              <a:spcBef>
                <a:spcPct val="0"/>
              </a:spcBef>
            </a:pPr>
            <a:r>
              <a:rPr lang="en-US" b="true" sz="4000" spc="392">
                <a:solidFill>
                  <a:srgbClr val="FDFBFB"/>
                </a:solidFill>
                <a:latin typeface="Oswald Bold"/>
                <a:ea typeface="Oswald Bold"/>
                <a:cs typeface="Oswald Bold"/>
                <a:sym typeface="Oswald Bold"/>
              </a:rPr>
              <a:t>PATROCINADORES Y ÁREAS DE CONTROL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42145" y="4775145"/>
            <a:ext cx="5755090" cy="137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19"/>
              </a:lnSpc>
              <a:spcBef>
                <a:spcPct val="0"/>
              </a:spcBef>
            </a:pPr>
            <a:r>
              <a:rPr lang="en-US" b="true" sz="3999" spc="391">
                <a:solidFill>
                  <a:srgbClr val="FDFBFB"/>
                </a:solidFill>
                <a:latin typeface="Oswald Bold"/>
                <a:ea typeface="Oswald Bold"/>
                <a:cs typeface="Oswald Bold"/>
                <a:sym typeface="Oswald Bold"/>
              </a:rPr>
              <a:t>USUARIOS DEL SISTEMA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7863">
            <a:off x="-571305" y="6150994"/>
            <a:ext cx="21273218" cy="9128145"/>
          </a:xfrm>
          <a:custGeom>
            <a:avLst/>
            <a:gdLst/>
            <a:ahLst/>
            <a:cxnLst/>
            <a:rect r="r" b="b" t="t" l="l"/>
            <a:pathLst>
              <a:path h="9128145" w="21273218">
                <a:moveTo>
                  <a:pt x="0" y="0"/>
                </a:moveTo>
                <a:lnTo>
                  <a:pt x="21273219" y="0"/>
                </a:lnTo>
                <a:lnTo>
                  <a:pt x="21273219" y="9128145"/>
                </a:lnTo>
                <a:lnTo>
                  <a:pt x="0" y="91281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790764" y="4251960"/>
            <a:ext cx="12706471" cy="5659586"/>
            <a:chOff x="0" y="0"/>
            <a:chExt cx="16941961" cy="75461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9415294" y="6767379"/>
              <a:ext cx="7353443" cy="778736"/>
            </a:xfrm>
            <a:custGeom>
              <a:avLst/>
              <a:gdLst/>
              <a:ahLst/>
              <a:cxnLst/>
              <a:rect r="r" b="b" t="t" l="l"/>
              <a:pathLst>
                <a:path h="778736" w="7353443">
                  <a:moveTo>
                    <a:pt x="0" y="0"/>
                  </a:moveTo>
                  <a:lnTo>
                    <a:pt x="7353442" y="0"/>
                  </a:lnTo>
                  <a:lnTo>
                    <a:pt x="7353442" y="778736"/>
                  </a:lnTo>
                  <a:lnTo>
                    <a:pt x="0" y="778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6495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854630" y="6767379"/>
              <a:ext cx="7353443" cy="778736"/>
            </a:xfrm>
            <a:custGeom>
              <a:avLst/>
              <a:gdLst/>
              <a:ahLst/>
              <a:cxnLst/>
              <a:rect r="r" b="b" t="t" l="l"/>
              <a:pathLst>
                <a:path h="778736" w="7353443">
                  <a:moveTo>
                    <a:pt x="0" y="0"/>
                  </a:moveTo>
                  <a:lnTo>
                    <a:pt x="7353443" y="0"/>
                  </a:lnTo>
                  <a:lnTo>
                    <a:pt x="7353443" y="778736"/>
                  </a:lnTo>
                  <a:lnTo>
                    <a:pt x="0" y="778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6495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9441733" y="710470"/>
              <a:ext cx="7327003" cy="6133109"/>
              <a:chOff x="0" y="0"/>
              <a:chExt cx="1279723" cy="10712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279723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79723">
                    <a:moveTo>
                      <a:pt x="0" y="0"/>
                    </a:moveTo>
                    <a:lnTo>
                      <a:pt x="1279723" y="0"/>
                    </a:lnTo>
                    <a:lnTo>
                      <a:pt x="1279723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1A1A1A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1279723" cy="1128350"/>
              </a:xfrm>
              <a:prstGeom prst="rect">
                <a:avLst/>
              </a:prstGeom>
            </p:spPr>
            <p:txBody>
              <a:bodyPr anchor="ctr" rtlCol="false" tIns="67869" lIns="67869" bIns="67869" rIns="67869"/>
              <a:lstStyle/>
              <a:p>
                <a:pPr algn="ctr" marL="0" indent="0" lvl="0">
                  <a:lnSpc>
                    <a:spcPts val="411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710470"/>
              <a:ext cx="8208073" cy="6133109"/>
              <a:chOff x="0" y="0"/>
              <a:chExt cx="1433609" cy="10712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433609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433609">
                    <a:moveTo>
                      <a:pt x="0" y="0"/>
                    </a:moveTo>
                    <a:lnTo>
                      <a:pt x="1433609" y="0"/>
                    </a:lnTo>
                    <a:lnTo>
                      <a:pt x="1433609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1A1A1A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1433609" cy="1128350"/>
              </a:xfrm>
              <a:prstGeom prst="rect">
                <a:avLst/>
              </a:prstGeom>
            </p:spPr>
            <p:txBody>
              <a:bodyPr anchor="ctr" rtlCol="false" tIns="67869" lIns="67869" bIns="67869" rIns="67869"/>
              <a:lstStyle/>
              <a:p>
                <a:pPr algn="ctr" marL="0" indent="0" lvl="0">
                  <a:lnSpc>
                    <a:spcPts val="411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2278896" y="0"/>
              <a:ext cx="3650282" cy="3650282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A1A1A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67869" lIns="67869" bIns="67869" rIns="67869"/>
              <a:lstStyle/>
              <a:p>
                <a:pPr algn="ctr" marL="0" indent="0" lvl="0">
                  <a:lnSpc>
                    <a:spcPts val="411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11266874" y="4526"/>
              <a:ext cx="3650282" cy="3650282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A1A1A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67869" lIns="67869" bIns="67869" rIns="67869"/>
              <a:lstStyle/>
              <a:p>
                <a:pPr algn="ctr" marL="0" indent="0" lvl="0">
                  <a:lnSpc>
                    <a:spcPts val="4114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694625" y="3622846"/>
              <a:ext cx="6818823" cy="18323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29"/>
                </a:lnSpc>
              </a:pPr>
              <a:r>
                <a:rPr lang="en-US" sz="2702" spc="264">
                  <a:solidFill>
                    <a:srgbClr val="FFFBFB"/>
                  </a:solidFill>
                  <a:latin typeface="DM Sans"/>
                  <a:ea typeface="DM Sans"/>
                  <a:cs typeface="DM Sans"/>
                  <a:sym typeface="DM Sans"/>
                </a:rPr>
                <a:t>Afiliados</a:t>
              </a:r>
            </a:p>
            <a:p>
              <a:pPr algn="ctr">
                <a:lnSpc>
                  <a:spcPts val="3729"/>
                </a:lnSpc>
              </a:pPr>
              <a:r>
                <a:rPr lang="en-US" sz="2702" spc="264">
                  <a:solidFill>
                    <a:srgbClr val="FFFBFB"/>
                  </a:solidFill>
                  <a:latin typeface="DM Sans"/>
                  <a:ea typeface="DM Sans"/>
                  <a:cs typeface="DM Sans"/>
                  <a:sym typeface="DM Sans"/>
                </a:rPr>
                <a:t>Proveedores de Salud</a:t>
              </a:r>
            </a:p>
            <a:p>
              <a:pPr algn="ctr">
                <a:lnSpc>
                  <a:spcPts val="3729"/>
                </a:lnSpc>
              </a:pP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9949913" y="3734183"/>
              <a:ext cx="6310644" cy="2454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29"/>
                </a:lnSpc>
              </a:pPr>
              <a:r>
                <a:rPr lang="en-US" sz="2702" spc="264">
                  <a:solidFill>
                    <a:srgbClr val="FFFBFB"/>
                  </a:solidFill>
                  <a:latin typeface="DM Sans"/>
                  <a:ea typeface="DM Sans"/>
                  <a:cs typeface="DM Sans"/>
                  <a:sym typeface="DM Sans"/>
                </a:rPr>
                <a:t>Equipo de TI Interno</a:t>
              </a:r>
            </a:p>
            <a:p>
              <a:pPr algn="ctr">
                <a:lnSpc>
                  <a:spcPts val="3729"/>
                </a:lnSpc>
              </a:pPr>
              <a:r>
                <a:rPr lang="en-US" sz="2702" spc="264">
                  <a:solidFill>
                    <a:srgbClr val="FFFBFB"/>
                  </a:solidFill>
                  <a:latin typeface="DM Sans"/>
                  <a:ea typeface="DM Sans"/>
                  <a:cs typeface="DM Sans"/>
                  <a:sym typeface="DM Sans"/>
                </a:rPr>
                <a:t>Equipo de Desarrollo</a:t>
              </a:r>
            </a:p>
            <a:p>
              <a:pPr algn="ctr">
                <a:lnSpc>
                  <a:spcPts val="3729"/>
                </a:lnSpc>
              </a:pPr>
            </a:p>
            <a:p>
              <a:pPr algn="ctr">
                <a:lnSpc>
                  <a:spcPts val="3729"/>
                </a:lnSpc>
              </a:pP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67310" y="1622278"/>
              <a:ext cx="7673454" cy="1111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900"/>
                </a:lnSpc>
                <a:spcBef>
                  <a:spcPct val="0"/>
                </a:spcBef>
              </a:pPr>
              <a:r>
                <a:rPr lang="en-US" b="true" sz="5000" spc="490">
                  <a:solidFill>
                    <a:srgbClr val="FDFBFB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BENEFICIARIOS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9268508" y="1038060"/>
              <a:ext cx="7673454" cy="2279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900"/>
                </a:lnSpc>
                <a:spcBef>
                  <a:spcPct val="0"/>
                </a:spcBef>
              </a:pPr>
              <a:r>
                <a:rPr lang="en-US" b="true" sz="5000" spc="490">
                  <a:solidFill>
                    <a:srgbClr val="FDFBFB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ÁREAS DE SOPORTE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343797" y="495300"/>
            <a:ext cx="13153439" cy="308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419"/>
              </a:lnSpc>
              <a:spcBef>
                <a:spcPct val="0"/>
              </a:spcBef>
            </a:pPr>
            <a:r>
              <a:rPr lang="en-US" b="true" sz="9000" spc="882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RESULTADOS DE LA ELICITACIÓN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3280749" y="2025251"/>
          <a:ext cx="11726502" cy="8020050"/>
        </p:xfrm>
        <a:graphic>
          <a:graphicData uri="http://schemas.openxmlformats.org/drawingml/2006/table">
            <a:tbl>
              <a:tblPr/>
              <a:tblGrid>
                <a:gridCol w="2279703"/>
                <a:gridCol w="9446799"/>
              </a:tblGrid>
              <a:tr h="7560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Requisito Funcional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0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RF-001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El sistema deberá permitir registrar casos A&amp;G desde múltiples canales.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0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RF-002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El sistema deberá sugerir categoría, subcategoría y prioridad automáticamente.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8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RF-003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El sistema deberá identificar y alertar sobre posibles casos duplicados o relacionados.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0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RF-004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El sistema deberá mostrar el estado actual de cada caso en tiempo real.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0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RF-007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El sistema deberá permitir derivar casos al área o especialista correspondiente.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0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RF-008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El sistema deberá gestionar usuarios, roles y permisos con integración LDAP/AD.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8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RF-010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El sistema deberá consolidar automáticamente información desde Core Pólizas y EHR.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588420" y="43470"/>
            <a:ext cx="15111160" cy="134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b="true" sz="8030" spc="786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REQUISITOS FUNCIONALES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4756153">
            <a:off x="-3605062" y="6379252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007251" y="-4780171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489002" y="1878678"/>
          <a:ext cx="15309995" cy="7842864"/>
        </p:xfrm>
        <a:graphic>
          <a:graphicData uri="http://schemas.openxmlformats.org/drawingml/2006/table">
            <a:tbl>
              <a:tblPr/>
              <a:tblGrid>
                <a:gridCol w="2141290"/>
                <a:gridCol w="13168705"/>
              </a:tblGrid>
              <a:tr h="6696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4"/>
                        </a:lnSpc>
                        <a:defRPr/>
                      </a:pPr>
                      <a:r>
                        <a:rPr lang="en-US" sz="1581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ID</a:t>
                      </a:r>
                      <a:endParaRPr lang="en-US" sz="1100"/>
                    </a:p>
                  </a:txBody>
                  <a:tcPr marL="167385" marR="167385" marT="167385" marB="167385" anchor="ctr">
                    <a:lnL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4"/>
                        </a:lnSpc>
                        <a:defRPr/>
                      </a:pPr>
                      <a:r>
                        <a:rPr lang="en-US" sz="1581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Requisito Funcional</a:t>
                      </a:r>
                      <a:endParaRPr lang="en-US" sz="1100"/>
                    </a:p>
                  </a:txBody>
                  <a:tcPr marL="167385" marR="167385" marT="167385" marB="167385" anchor="ctr">
                    <a:lnL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70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4"/>
                        </a:lnSpc>
                        <a:defRPr/>
                      </a:pPr>
                      <a:r>
                        <a:rPr lang="en-US" sz="1581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RNF-DES-001</a:t>
                      </a:r>
                      <a:endParaRPr lang="en-US" sz="1100"/>
                    </a:p>
                  </a:txBody>
                  <a:tcPr marL="167385" marR="167385" marT="167385" marB="167385" anchor="ctr">
                    <a:lnL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4"/>
                        </a:lnSpc>
                        <a:defRPr/>
                      </a:pPr>
                      <a:r>
                        <a:rPr lang="en-US" sz="1581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El sistema deberá responder consultas simples de búsqueda y visualización de casos en un tiempo máximo de 3 segundos bajo condiciones normales de operación.</a:t>
                      </a:r>
                      <a:endParaRPr lang="en-US" sz="1100"/>
                    </a:p>
                  </a:txBody>
                  <a:tcPr marL="167385" marR="167385" marT="167385" marB="167385" anchor="ctr">
                    <a:lnL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70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4"/>
                        </a:lnSpc>
                        <a:defRPr/>
                      </a:pPr>
                      <a:r>
                        <a:rPr lang="en-US" sz="1581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RNF-DES-002</a:t>
                      </a:r>
                      <a:endParaRPr lang="en-US" sz="1100"/>
                    </a:p>
                  </a:txBody>
                  <a:tcPr marL="167385" marR="167385" marT="167385" marB="167385" anchor="ctr">
                    <a:lnL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4"/>
                        </a:lnSpc>
                        <a:defRPr/>
                      </a:pPr>
                      <a:r>
                        <a:rPr lang="en-US" sz="1581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El sistema deberá soportar al menos 500 usuarios concurrentes realizando actividades de consulta, registro y clasificación de casos.</a:t>
                      </a:r>
                      <a:endParaRPr lang="en-US" sz="1100"/>
                    </a:p>
                  </a:txBody>
                  <a:tcPr marL="167385" marR="167385" marT="167385" marB="167385" anchor="ctr">
                    <a:lnL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70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4"/>
                        </a:lnSpc>
                        <a:defRPr/>
                      </a:pPr>
                      <a:r>
                        <a:rPr lang="en-US" sz="1581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RNF-SEG-001</a:t>
                      </a:r>
                      <a:endParaRPr lang="en-US" sz="1100"/>
                    </a:p>
                  </a:txBody>
                  <a:tcPr marL="167385" marR="167385" marT="167385" marB="167385" anchor="ctr">
                    <a:lnL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4"/>
                        </a:lnSpc>
                        <a:defRPr/>
                      </a:pPr>
                      <a:r>
                        <a:rPr lang="en-US" sz="1581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El sistema deberá autenticar a todos los usuarios antes de permitir acceso a funciones o información protegida.</a:t>
                      </a:r>
                      <a:endParaRPr lang="en-US" sz="1100"/>
                    </a:p>
                    <a:p>
                      <a:pPr algn="ctr">
                        <a:lnSpc>
                          <a:spcPts val="2214"/>
                        </a:lnSpc>
                      </a:pPr>
                    </a:p>
                  </a:txBody>
                  <a:tcPr marL="167385" marR="167385" marT="167385" marB="167385" anchor="ctr">
                    <a:lnL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67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4"/>
                        </a:lnSpc>
                        <a:defRPr/>
                      </a:pPr>
                      <a:r>
                        <a:rPr lang="en-US" sz="1581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RNF-SEG-002</a:t>
                      </a:r>
                      <a:endParaRPr lang="en-US" sz="1100"/>
                    </a:p>
                  </a:txBody>
                  <a:tcPr marL="167385" marR="167385" marT="167385" marB="167385" anchor="ctr">
                    <a:lnL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4"/>
                        </a:lnSpc>
                        <a:defRPr/>
                      </a:pPr>
                      <a:r>
                        <a:rPr lang="en-US" sz="1581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El sistema deberá aplicar controles de autorización basados en roles y perfiles operativos definidos por la organización.</a:t>
                      </a:r>
                      <a:endParaRPr lang="en-US" sz="1100"/>
                    </a:p>
                  </a:txBody>
                  <a:tcPr marL="167385" marR="167385" marT="167385" marB="167385" anchor="ctr">
                    <a:lnL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96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4"/>
                        </a:lnSpc>
                        <a:defRPr/>
                      </a:pPr>
                      <a:r>
                        <a:rPr lang="en-US" sz="1581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RNF-SEG-007</a:t>
                      </a:r>
                      <a:endParaRPr lang="en-US" sz="1100"/>
                    </a:p>
                  </a:txBody>
                  <a:tcPr marL="167385" marR="167385" marT="167385" marB="167385" anchor="ctr">
                    <a:lnL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4"/>
                        </a:lnSpc>
                        <a:defRPr/>
                      </a:pPr>
                      <a:r>
                        <a:rPr lang="en-US" sz="1581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El sistema deberá restringir el acceso a información clínica o sensible según el perfil autorizado del usuario.</a:t>
                      </a:r>
                      <a:endParaRPr lang="en-US" sz="1100"/>
                    </a:p>
                  </a:txBody>
                  <a:tcPr marL="167385" marR="167385" marT="167385" marB="167385" anchor="ctr">
                    <a:lnL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96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4"/>
                        </a:lnSpc>
                        <a:defRPr/>
                      </a:pPr>
                      <a:r>
                        <a:rPr lang="en-US" sz="1581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RNF-SEG-006</a:t>
                      </a:r>
                      <a:endParaRPr lang="en-US" sz="1100"/>
                    </a:p>
                  </a:txBody>
                  <a:tcPr marL="167385" marR="167385" marT="167385" marB="167385" anchor="ctr">
                    <a:lnL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4"/>
                        </a:lnSpc>
                        <a:defRPr/>
                      </a:pPr>
                      <a:r>
                        <a:rPr lang="en-US" sz="1581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Auditorías sin observaciones</a:t>
                      </a:r>
                      <a:endParaRPr lang="en-US" sz="1100"/>
                    </a:p>
                  </a:txBody>
                  <a:tcPr marL="167385" marR="167385" marT="167385" marB="167385" anchor="ctr">
                    <a:lnL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70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4"/>
                        </a:lnSpc>
                        <a:defRPr/>
                      </a:pPr>
                      <a:r>
                        <a:rPr lang="en-US" sz="1581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RNF-MAN-003</a:t>
                      </a:r>
                      <a:endParaRPr lang="en-US" sz="1100"/>
                    </a:p>
                  </a:txBody>
                  <a:tcPr marL="167385" marR="167385" marT="167385" marB="167385" anchor="ctr">
                    <a:lnL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4"/>
                        </a:lnSpc>
                        <a:defRPr/>
                      </a:pPr>
                      <a:r>
                        <a:rPr lang="en-US" sz="1581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El sistema deberá permitir actualizar categorías, subcategorías, prioridades y reglas operativas configurables sin afectar la continuidad del servicio cuando aplique.</a:t>
                      </a:r>
                      <a:endParaRPr lang="en-US" sz="1100"/>
                    </a:p>
                  </a:txBody>
                  <a:tcPr marL="167385" marR="167385" marT="167385" marB="167385" anchor="ctr">
                    <a:lnL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96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4"/>
                        </a:lnSpc>
                        <a:defRPr/>
                      </a:pPr>
                      <a:r>
                        <a:rPr lang="en-US" sz="1581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RNF-ESC-001</a:t>
                      </a:r>
                      <a:endParaRPr lang="en-US" sz="1100"/>
                    </a:p>
                  </a:txBody>
                  <a:tcPr marL="167385" marR="167385" marT="167385" marB="167385" anchor="ctr">
                    <a:lnL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4"/>
                        </a:lnSpc>
                        <a:defRPr/>
                      </a:pPr>
                      <a:r>
                        <a:rPr lang="en-US" sz="1581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El sistema deberá soportar un crecimiento de hasta 1,500 usuarios concurrentes sin requerir rediseños operativos mayores.</a:t>
                      </a:r>
                      <a:endParaRPr lang="en-US" sz="1100"/>
                    </a:p>
                  </a:txBody>
                  <a:tcPr marL="167385" marR="167385" marT="167385" marB="167385" anchor="ctr">
                    <a:lnL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96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4"/>
                        </a:lnSpc>
                        <a:defRPr/>
                      </a:pPr>
                      <a:r>
                        <a:rPr lang="en-US" sz="1581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RNF-ESC-002</a:t>
                      </a:r>
                      <a:endParaRPr lang="en-US" sz="1100"/>
                    </a:p>
                  </a:txBody>
                  <a:tcPr marL="167385" marR="167385" marT="167385" marB="167385" anchor="ctr">
                    <a:lnL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14"/>
                        </a:lnSpc>
                        <a:defRPr/>
                      </a:pPr>
                      <a:r>
                        <a:rPr lang="en-US" sz="1581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El sistema deberá permitir incrementar la capacidad de procesamiento ante aumentos de volumen de casos A&amp;G.</a:t>
                      </a:r>
                      <a:endParaRPr lang="en-US" sz="1100"/>
                    </a:p>
                  </a:txBody>
                  <a:tcPr marL="167385" marR="167385" marT="167385" marB="167385" anchor="ctr">
                    <a:lnL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47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588420" y="43470"/>
            <a:ext cx="15111160" cy="134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b="true" sz="8030" spc="786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REQUISITOS NO FUNCIONALES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4756153">
            <a:off x="-8212820" y="6182797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007251" y="-4780171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3280749" y="1926158"/>
          <a:ext cx="11726502" cy="7783117"/>
        </p:xfrm>
        <a:graphic>
          <a:graphicData uri="http://schemas.openxmlformats.org/drawingml/2006/table">
            <a:tbl>
              <a:tblPr/>
              <a:tblGrid>
                <a:gridCol w="2315539"/>
                <a:gridCol w="9410964"/>
              </a:tblGrid>
              <a:tr h="7561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Requisito Funcional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1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CU-001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Registrar caso A&amp;G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1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CU-004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Derivar caso al área correspondiente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1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CU-005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Clasificar caso automáticamente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1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CU-007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Detectar casos duplicados o relacionados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1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CU-009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Visualizar estado y tablero operativo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1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CU-013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Consultar historial de cambios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18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CU-015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Administrar usuarios y roles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169255" y="61329"/>
            <a:ext cx="7949491" cy="134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b="true" sz="8030" spc="786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CASOS DE USO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4756153">
            <a:off x="-3605062" y="6379252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007251" y="-4780171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69367" y="-10264537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20102" y="3011931"/>
            <a:ext cx="12057353" cy="1822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76"/>
              </a:lnSpc>
            </a:pPr>
            <a:r>
              <a:rPr lang="en-US" b="true" sz="10707" spc="1049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PROTOTIPO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447294" y="-3843198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20102" y="5076825"/>
            <a:ext cx="10727192" cy="55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3"/>
              </a:lnSpc>
            </a:pPr>
            <a:r>
              <a:rPr lang="en-US" sz="3190" spc="312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Sistema de Triaje Inteligente · HealthFirst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a:videoFile r:link="rId3"/>
          </p:nvPr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789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35253">
            <a:off x="15456134" y="4423363"/>
            <a:ext cx="7835077" cy="10939025"/>
          </a:xfrm>
          <a:custGeom>
            <a:avLst/>
            <a:gdLst/>
            <a:ahLst/>
            <a:cxnLst/>
            <a:rect r="r" b="b" t="t" l="l"/>
            <a:pathLst>
              <a:path h="10939025" w="7835077">
                <a:moveTo>
                  <a:pt x="0" y="0"/>
                </a:moveTo>
                <a:lnTo>
                  <a:pt x="7835077" y="0"/>
                </a:lnTo>
                <a:lnTo>
                  <a:pt x="7835077" y="10939025"/>
                </a:lnTo>
                <a:lnTo>
                  <a:pt x="0" y="109390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714557" y="5095676"/>
            <a:ext cx="1510891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667454" y="4846452"/>
            <a:ext cx="501082" cy="50108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121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758017" y="4846452"/>
            <a:ext cx="501082" cy="50108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121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10799999">
            <a:off x="-3157055" y="-6330699"/>
            <a:ext cx="7835077" cy="10939025"/>
          </a:xfrm>
          <a:custGeom>
            <a:avLst/>
            <a:gdLst/>
            <a:ahLst/>
            <a:cxnLst/>
            <a:rect r="r" b="b" t="t" l="l"/>
            <a:pathLst>
              <a:path h="10939025" w="7835077">
                <a:moveTo>
                  <a:pt x="0" y="0"/>
                </a:moveTo>
                <a:lnTo>
                  <a:pt x="7835077" y="0"/>
                </a:lnTo>
                <a:lnTo>
                  <a:pt x="7835077" y="10939026"/>
                </a:lnTo>
                <a:lnTo>
                  <a:pt x="0" y="109390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2315732" y="1753349"/>
            <a:ext cx="3093102" cy="309310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1211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517718" y="1753349"/>
            <a:ext cx="3093102" cy="309310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1211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070615" y="1753349"/>
            <a:ext cx="3093102" cy="3093102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1211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362685" y="4945416"/>
            <a:ext cx="501082" cy="501082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121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28700" y="5408397"/>
            <a:ext cx="5651522" cy="1696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3"/>
              </a:lnSpc>
            </a:pPr>
            <a:r>
              <a:rPr lang="en-US" b="true" sz="2451" spc="240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CLASIFICAR AUTOMÁTICAMENTE LOS CASOS.</a:t>
            </a:r>
          </a:p>
          <a:p>
            <a:pPr algn="ctr">
              <a:lnSpc>
                <a:spcPts val="3383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7406295" y="6984822"/>
            <a:ext cx="3204526" cy="126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5"/>
              </a:lnSpc>
            </a:pPr>
            <a:r>
              <a:rPr lang="en-US" sz="1844" spc="180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Tabla de estados, filtros, indicadores visuales de estado</a:t>
            </a:r>
          </a:p>
          <a:p>
            <a:pPr algn="ctr">
              <a:lnSpc>
                <a:spcPts val="2545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6471405" y="5499956"/>
            <a:ext cx="5345191" cy="1349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</a:pPr>
            <a:r>
              <a:rPr lang="en-US" b="true" sz="2651" spc="259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MOSTRAR EL ESTADO DE LOS CASOS EN TIEMPO REAL.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010964" y="6837573"/>
            <a:ext cx="3204526" cy="126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5"/>
              </a:lnSpc>
            </a:pPr>
            <a:r>
              <a:rPr lang="en-US" sz="1844" spc="180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Tabla de auditoría, línea de tiempo, registro de cambios</a:t>
            </a:r>
          </a:p>
          <a:p>
            <a:pPr algn="ctr">
              <a:lnSpc>
                <a:spcPts val="2545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1967153" y="5533826"/>
            <a:ext cx="5292147" cy="865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1"/>
              </a:lnSpc>
            </a:pPr>
            <a:r>
              <a:rPr lang="en-US" b="true" sz="2551" spc="250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MANTENER HISTORIAL COMPLETO DE ACCIONES.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29441" y="6984822"/>
            <a:ext cx="4777109" cy="126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5"/>
              </a:lnSpc>
            </a:pPr>
            <a:r>
              <a:rPr lang="en-US" sz="1844" spc="180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Botón "Clasificar", etiqueta de categoría, indicador de prioridad, nivel de confianza</a:t>
            </a:r>
          </a:p>
          <a:p>
            <a:pPr algn="ctr">
              <a:lnSpc>
                <a:spcPts val="2545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2126766" y="2646884"/>
            <a:ext cx="3455390" cy="126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3"/>
              </a:lnSpc>
            </a:pPr>
            <a:r>
              <a:rPr lang="en-US" b="true" sz="2451" spc="24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REQUISITO FUNCIONAL</a:t>
            </a:r>
          </a:p>
          <a:p>
            <a:pPr algn="ctr">
              <a:lnSpc>
                <a:spcPts val="3383"/>
              </a:lnSpc>
            </a:pPr>
            <a:r>
              <a:rPr lang="en-US" b="true" sz="2451" spc="24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002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280862" y="2646884"/>
            <a:ext cx="3455390" cy="126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3"/>
              </a:lnSpc>
            </a:pPr>
            <a:r>
              <a:rPr lang="en-US" b="true" sz="2451" spc="24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REQUISITO FUNCIONAL</a:t>
            </a:r>
          </a:p>
          <a:p>
            <a:pPr algn="ctr">
              <a:lnSpc>
                <a:spcPts val="3383"/>
              </a:lnSpc>
            </a:pPr>
            <a:r>
              <a:rPr lang="en-US" b="true" sz="2451" spc="24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004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889470" y="2646884"/>
            <a:ext cx="3455390" cy="126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3"/>
              </a:lnSpc>
            </a:pPr>
            <a:r>
              <a:rPr lang="en-US" b="true" sz="2451" spc="24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REQUISITO FUNCIONAL</a:t>
            </a:r>
          </a:p>
          <a:p>
            <a:pPr algn="ctr">
              <a:lnSpc>
                <a:spcPts val="3383"/>
              </a:lnSpc>
            </a:pPr>
            <a:r>
              <a:rPr lang="en-US" b="true" sz="2451" spc="24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005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70706" y="-3368517"/>
            <a:ext cx="4959890" cy="495989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942879" y="-8901390"/>
            <a:ext cx="13188954" cy="1318895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7032014" y="-6836385"/>
            <a:ext cx="12110389" cy="12426705"/>
          </a:xfrm>
          <a:custGeom>
            <a:avLst/>
            <a:gdLst/>
            <a:ahLst/>
            <a:cxnLst/>
            <a:rect r="r" b="b" t="t" l="l"/>
            <a:pathLst>
              <a:path h="12426705" w="12110389">
                <a:moveTo>
                  <a:pt x="0" y="0"/>
                </a:moveTo>
                <a:lnTo>
                  <a:pt x="12110389" y="0"/>
                </a:lnTo>
                <a:lnTo>
                  <a:pt x="12110389" y="12426705"/>
                </a:lnTo>
                <a:lnTo>
                  <a:pt x="0" y="1242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986589">
            <a:off x="14032399" y="5774840"/>
            <a:ext cx="9894000" cy="10152425"/>
          </a:xfrm>
          <a:custGeom>
            <a:avLst/>
            <a:gdLst/>
            <a:ahLst/>
            <a:cxnLst/>
            <a:rect r="r" b="b" t="t" l="l"/>
            <a:pathLst>
              <a:path h="10152425" w="9894000">
                <a:moveTo>
                  <a:pt x="0" y="0"/>
                </a:moveTo>
                <a:lnTo>
                  <a:pt x="9894000" y="0"/>
                </a:lnTo>
                <a:lnTo>
                  <a:pt x="9894000" y="10152426"/>
                </a:lnTo>
                <a:lnTo>
                  <a:pt x="0" y="10152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554223" y="129735"/>
            <a:ext cx="7942168" cy="2837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49"/>
              </a:lnSpc>
            </a:pPr>
            <a:r>
              <a:rPr lang="en-US" b="true" sz="8224" spc="80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LECCIONES APRENDIDAS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9051" y="3037057"/>
            <a:ext cx="16421755" cy="654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2"/>
              </a:lnSpc>
            </a:pPr>
            <a:r>
              <a:rPr lang="en-US" sz="2893" spc="283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Negocio</a:t>
            </a:r>
          </a:p>
          <a:p>
            <a:pPr algn="l" marL="624699" indent="-312350" lvl="1">
              <a:lnSpc>
                <a:spcPts val="3992"/>
              </a:lnSpc>
              <a:buFont typeface="Arial"/>
              <a:buChar char="•"/>
            </a:pPr>
            <a:r>
              <a:rPr lang="en-US" sz="2893" spc="283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Entender el problema es más importante que proponer soluciones rápidas.</a:t>
            </a:r>
          </a:p>
          <a:p>
            <a:pPr algn="l">
              <a:lnSpc>
                <a:spcPts val="3992"/>
              </a:lnSpc>
            </a:pPr>
            <a:r>
              <a:rPr lang="en-US" sz="2893" spc="283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Requisitos</a:t>
            </a:r>
          </a:p>
          <a:p>
            <a:pPr algn="l" marL="624699" indent="-312350" lvl="1">
              <a:lnSpc>
                <a:spcPts val="3992"/>
              </a:lnSpc>
              <a:buFont typeface="Arial"/>
              <a:buChar char="•"/>
            </a:pPr>
            <a:r>
              <a:rPr lang="en-US" sz="2893" spc="283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Los requisitos deben ser verificables y trazables.</a:t>
            </a:r>
          </a:p>
          <a:p>
            <a:pPr algn="l">
              <a:lnSpc>
                <a:spcPts val="3992"/>
              </a:lnSpc>
            </a:pPr>
            <a:r>
              <a:rPr lang="en-US" sz="2893" spc="283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Usuarios</a:t>
            </a:r>
          </a:p>
          <a:p>
            <a:pPr algn="l" marL="624699" indent="-312350" lvl="1">
              <a:lnSpc>
                <a:spcPts val="3992"/>
              </a:lnSpc>
              <a:buFont typeface="Arial"/>
              <a:buChar char="•"/>
            </a:pPr>
            <a:r>
              <a:rPr lang="en-US" sz="2893" spc="283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La participación de stakeholders es fundamental.</a:t>
            </a:r>
          </a:p>
          <a:p>
            <a:pPr algn="l">
              <a:lnSpc>
                <a:spcPts val="3992"/>
              </a:lnSpc>
            </a:pPr>
            <a:r>
              <a:rPr lang="en-US" sz="2893" spc="283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Documentación</a:t>
            </a:r>
          </a:p>
          <a:p>
            <a:pPr algn="l" marL="624699" indent="-312350" lvl="1">
              <a:lnSpc>
                <a:spcPts val="3992"/>
              </a:lnSpc>
              <a:buFont typeface="Arial"/>
              <a:buChar char="•"/>
            </a:pPr>
            <a:r>
              <a:rPr lang="en-US" sz="2893" spc="283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La Visión, SRS y Casos de Uso permiten mantener alineados a todos los involucrados.</a:t>
            </a:r>
          </a:p>
          <a:p>
            <a:pPr algn="l">
              <a:lnSpc>
                <a:spcPts val="3992"/>
              </a:lnSpc>
            </a:pPr>
            <a:r>
              <a:rPr lang="en-US" sz="2893" spc="283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Proyecto</a:t>
            </a:r>
          </a:p>
          <a:p>
            <a:pPr algn="l" marL="624699" indent="-312350" lvl="1">
              <a:lnSpc>
                <a:spcPts val="3992"/>
              </a:lnSpc>
              <a:buFont typeface="Arial"/>
              <a:buChar char="•"/>
            </a:pPr>
            <a:r>
              <a:rPr lang="en-US" sz="2893" spc="283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Un buen proceso de Ingeniería de Requisitos reduce riesgos y retrabajo durante el desarrollo.</a:t>
            </a:r>
          </a:p>
          <a:p>
            <a:pPr algn="l">
              <a:lnSpc>
                <a:spcPts val="3992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580377">
            <a:off x="8390233" y="-10065130"/>
            <a:ext cx="24036383" cy="24664199"/>
          </a:xfrm>
          <a:custGeom>
            <a:avLst/>
            <a:gdLst/>
            <a:ahLst/>
            <a:cxnLst/>
            <a:rect r="r" b="b" t="t" l="l"/>
            <a:pathLst>
              <a:path h="24664199" w="24036383">
                <a:moveTo>
                  <a:pt x="0" y="0"/>
                </a:moveTo>
                <a:lnTo>
                  <a:pt x="24036383" y="0"/>
                </a:lnTo>
                <a:lnTo>
                  <a:pt x="24036383" y="24664199"/>
                </a:lnTo>
                <a:lnTo>
                  <a:pt x="0" y="24664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61733" y="2105045"/>
            <a:ext cx="6346347" cy="6537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015"/>
              </a:lnSpc>
              <a:spcBef>
                <a:spcPct val="0"/>
              </a:spcBef>
            </a:pPr>
            <a:r>
              <a:rPr lang="en-US" b="true" sz="9431" spc="924" u="none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GRACIAS A TODOS </a:t>
            </a:r>
          </a:p>
          <a:p>
            <a:pPr algn="l" marL="0" indent="0" lvl="0">
              <a:lnSpc>
                <a:spcPts val="13015"/>
              </a:lnSpc>
              <a:spcBef>
                <a:spcPct val="0"/>
              </a:spcBef>
            </a:pPr>
            <a:r>
              <a:rPr lang="en-US" b="true" sz="9431" spc="924" u="none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POR SU</a:t>
            </a:r>
          </a:p>
          <a:p>
            <a:pPr algn="l" marL="0" indent="0" lvl="0">
              <a:lnSpc>
                <a:spcPts val="13015"/>
              </a:lnSpc>
              <a:spcBef>
                <a:spcPct val="0"/>
              </a:spcBef>
            </a:pPr>
            <a:r>
              <a:rPr lang="en-US" b="true" sz="9431" spc="924" u="none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ATENCION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409623" y="2266970"/>
            <a:ext cx="734693" cy="755166"/>
          </a:xfrm>
          <a:custGeom>
            <a:avLst/>
            <a:gdLst/>
            <a:ahLst/>
            <a:cxnLst/>
            <a:rect r="r" b="b" t="t" l="l"/>
            <a:pathLst>
              <a:path h="755166" w="734693">
                <a:moveTo>
                  <a:pt x="0" y="0"/>
                </a:moveTo>
                <a:lnTo>
                  <a:pt x="734692" y="0"/>
                </a:lnTo>
                <a:lnTo>
                  <a:pt x="734692" y="755166"/>
                </a:lnTo>
                <a:lnTo>
                  <a:pt x="0" y="7551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628874" y="3180249"/>
            <a:ext cx="2296190" cy="71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7"/>
              </a:lnSpc>
              <a:spcBef>
                <a:spcPct val="0"/>
              </a:spcBef>
            </a:pPr>
            <a:r>
              <a:rPr lang="en-US" b="true" sz="2135" spc="209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</a:t>
            </a:r>
            <a:r>
              <a:rPr lang="en-US" b="true" sz="2135" spc="209" u="none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AM NOT FOUND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DAHLc5I7Z7o</dc:identifier>
  <dcterms:modified xsi:type="dcterms:W3CDTF">2011-08-01T06:04:30Z</dcterms:modified>
  <cp:revision>1</cp:revision>
  <dc:title>Presentación propuesta de negocio de la compañía minimalista profesional gris</dc:title>
</cp:coreProperties>
</file>